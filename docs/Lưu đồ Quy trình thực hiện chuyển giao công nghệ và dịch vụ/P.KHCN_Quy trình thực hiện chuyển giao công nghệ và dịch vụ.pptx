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6858000" cy="8207375"/>
  <p:notesSz cx="6858000" cy="9144000"/>
  <p:defaultTextStyle>
    <a:defPPr>
      <a:defRPr lang="en-US"/>
    </a:defPPr>
    <a:lvl1pPr marL="0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2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8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3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30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6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22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8" algn="l" defTabSz="45714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8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3FF"/>
    <a:srgbClr val="A20000"/>
    <a:srgbClr val="7E0000"/>
    <a:srgbClr val="F0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1704" y="-370"/>
      </p:cViewPr>
      <p:guideLst>
        <p:guide orient="horz" pos="258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295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97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2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8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3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30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6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22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8" algn="l" defTabSz="91429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549609"/>
            <a:ext cx="5829300" cy="175926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650845"/>
            <a:ext cx="4800600" cy="20974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8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9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442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922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40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88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3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84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274002"/>
            <a:ext cx="5829300" cy="1630077"/>
          </a:xfrm>
        </p:spPr>
        <p:txBody>
          <a:bodyPr anchor="t"/>
          <a:lstStyle>
            <a:lvl1pPr algn="l">
              <a:defRPr sz="567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478637"/>
            <a:ext cx="5829300" cy="1795362"/>
          </a:xfrm>
        </p:spPr>
        <p:txBody>
          <a:bodyPr anchor="b"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648070" indent="0">
              <a:buNone/>
              <a:defRPr sz="2553">
                <a:solidFill>
                  <a:schemeClr val="tx1">
                    <a:tint val="75000"/>
                  </a:schemeClr>
                </a:solidFill>
              </a:defRPr>
            </a:lvl2pPr>
            <a:lvl3pPr marL="1296138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3pPr>
            <a:lvl4pPr marL="1944208" indent="0">
              <a:buNone/>
              <a:defRPr sz="1986">
                <a:solidFill>
                  <a:schemeClr val="tx1">
                    <a:tint val="75000"/>
                  </a:schemeClr>
                </a:solidFill>
              </a:defRPr>
            </a:lvl4pPr>
            <a:lvl5pPr marL="2592277" indent="0">
              <a:buNone/>
              <a:defRPr sz="1986">
                <a:solidFill>
                  <a:schemeClr val="tx1">
                    <a:tint val="75000"/>
                  </a:schemeClr>
                </a:solidFill>
              </a:defRPr>
            </a:lvl5pPr>
            <a:lvl6pPr marL="3240347" indent="0">
              <a:buNone/>
              <a:defRPr sz="1986">
                <a:solidFill>
                  <a:schemeClr val="tx1">
                    <a:tint val="75000"/>
                  </a:schemeClr>
                </a:solidFill>
              </a:defRPr>
            </a:lvl6pPr>
            <a:lvl7pPr marL="3888415" indent="0">
              <a:buNone/>
              <a:defRPr sz="1986">
                <a:solidFill>
                  <a:schemeClr val="tx1">
                    <a:tint val="75000"/>
                  </a:schemeClr>
                </a:solidFill>
              </a:defRPr>
            </a:lvl7pPr>
            <a:lvl8pPr marL="4536485" indent="0">
              <a:buNone/>
              <a:defRPr sz="1986">
                <a:solidFill>
                  <a:schemeClr val="tx1">
                    <a:tint val="75000"/>
                  </a:schemeClr>
                </a:solidFill>
              </a:defRPr>
            </a:lvl8pPr>
            <a:lvl9pPr marL="5184553" indent="0">
              <a:buNone/>
              <a:defRPr sz="19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915059"/>
            <a:ext cx="3028950" cy="5416488"/>
          </a:xfrm>
        </p:spPr>
        <p:txBody>
          <a:bodyPr/>
          <a:lstStyle>
            <a:lvl1pPr>
              <a:defRPr sz="3969"/>
            </a:lvl1pPr>
            <a:lvl2pPr>
              <a:defRPr sz="3402"/>
            </a:lvl2pPr>
            <a:lvl3pPr>
              <a:defRPr sz="2835"/>
            </a:lvl3pPr>
            <a:lvl4pPr>
              <a:defRPr sz="2553"/>
            </a:lvl4pPr>
            <a:lvl5pPr>
              <a:defRPr sz="2553"/>
            </a:lvl5pPr>
            <a:lvl6pPr>
              <a:defRPr sz="2553"/>
            </a:lvl6pPr>
            <a:lvl7pPr>
              <a:defRPr sz="2553"/>
            </a:lvl7pPr>
            <a:lvl8pPr>
              <a:defRPr sz="2553"/>
            </a:lvl8pPr>
            <a:lvl9pPr>
              <a:defRPr sz="25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915059"/>
            <a:ext cx="3028950" cy="5416488"/>
          </a:xfrm>
        </p:spPr>
        <p:txBody>
          <a:bodyPr/>
          <a:lstStyle>
            <a:lvl1pPr>
              <a:defRPr sz="3969"/>
            </a:lvl1pPr>
            <a:lvl2pPr>
              <a:defRPr sz="3402"/>
            </a:lvl2pPr>
            <a:lvl3pPr>
              <a:defRPr sz="2835"/>
            </a:lvl3pPr>
            <a:lvl4pPr>
              <a:defRPr sz="2553"/>
            </a:lvl4pPr>
            <a:lvl5pPr>
              <a:defRPr sz="2553"/>
            </a:lvl5pPr>
            <a:lvl6pPr>
              <a:defRPr sz="2553"/>
            </a:lvl6pPr>
            <a:lvl7pPr>
              <a:defRPr sz="2553"/>
            </a:lvl7pPr>
            <a:lvl8pPr>
              <a:defRPr sz="2553"/>
            </a:lvl8pPr>
            <a:lvl9pPr>
              <a:defRPr sz="25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4" y="1837163"/>
            <a:ext cx="3030141" cy="76564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70" indent="0">
              <a:buNone/>
              <a:defRPr sz="2835" b="1"/>
            </a:lvl2pPr>
            <a:lvl3pPr marL="1296138" indent="0">
              <a:buNone/>
              <a:defRPr sz="2553" b="1"/>
            </a:lvl3pPr>
            <a:lvl4pPr marL="1944208" indent="0">
              <a:buNone/>
              <a:defRPr sz="2268" b="1"/>
            </a:lvl4pPr>
            <a:lvl5pPr marL="2592277" indent="0">
              <a:buNone/>
              <a:defRPr sz="2268" b="1"/>
            </a:lvl5pPr>
            <a:lvl6pPr marL="3240347" indent="0">
              <a:buNone/>
              <a:defRPr sz="2268" b="1"/>
            </a:lvl6pPr>
            <a:lvl7pPr marL="3888415" indent="0">
              <a:buNone/>
              <a:defRPr sz="2268" b="1"/>
            </a:lvl7pPr>
            <a:lvl8pPr marL="4536485" indent="0">
              <a:buNone/>
              <a:defRPr sz="2268" b="1"/>
            </a:lvl8pPr>
            <a:lvl9pPr marL="5184553" indent="0">
              <a:buNone/>
              <a:defRPr sz="22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4" y="2602803"/>
            <a:ext cx="3030141" cy="4728740"/>
          </a:xfrm>
        </p:spPr>
        <p:txBody>
          <a:bodyPr/>
          <a:lstStyle>
            <a:lvl1pPr>
              <a:defRPr sz="3402"/>
            </a:lvl1pPr>
            <a:lvl2pPr>
              <a:defRPr sz="2835"/>
            </a:lvl2pPr>
            <a:lvl3pPr>
              <a:defRPr sz="2553"/>
            </a:lvl3pPr>
            <a:lvl4pPr>
              <a:defRPr sz="2268"/>
            </a:lvl4pPr>
            <a:lvl5pPr>
              <a:defRPr sz="2268"/>
            </a:lvl5pPr>
            <a:lvl6pPr>
              <a:defRPr sz="2268"/>
            </a:lvl6pPr>
            <a:lvl7pPr>
              <a:defRPr sz="2268"/>
            </a:lvl7pPr>
            <a:lvl8pPr>
              <a:defRPr sz="2268"/>
            </a:lvl8pPr>
            <a:lvl9pPr>
              <a:defRPr sz="22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3" y="1837163"/>
            <a:ext cx="3031331" cy="76564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8070" indent="0">
              <a:buNone/>
              <a:defRPr sz="2835" b="1"/>
            </a:lvl2pPr>
            <a:lvl3pPr marL="1296138" indent="0">
              <a:buNone/>
              <a:defRPr sz="2553" b="1"/>
            </a:lvl3pPr>
            <a:lvl4pPr marL="1944208" indent="0">
              <a:buNone/>
              <a:defRPr sz="2268" b="1"/>
            </a:lvl4pPr>
            <a:lvl5pPr marL="2592277" indent="0">
              <a:buNone/>
              <a:defRPr sz="2268" b="1"/>
            </a:lvl5pPr>
            <a:lvl6pPr marL="3240347" indent="0">
              <a:buNone/>
              <a:defRPr sz="2268" b="1"/>
            </a:lvl6pPr>
            <a:lvl7pPr marL="3888415" indent="0">
              <a:buNone/>
              <a:defRPr sz="2268" b="1"/>
            </a:lvl7pPr>
            <a:lvl8pPr marL="4536485" indent="0">
              <a:buNone/>
              <a:defRPr sz="2268" b="1"/>
            </a:lvl8pPr>
            <a:lvl9pPr marL="5184553" indent="0">
              <a:buNone/>
              <a:defRPr sz="22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3" y="2602803"/>
            <a:ext cx="3031331" cy="4728740"/>
          </a:xfrm>
        </p:spPr>
        <p:txBody>
          <a:bodyPr/>
          <a:lstStyle>
            <a:lvl1pPr>
              <a:defRPr sz="3402"/>
            </a:lvl1pPr>
            <a:lvl2pPr>
              <a:defRPr sz="2835"/>
            </a:lvl2pPr>
            <a:lvl3pPr>
              <a:defRPr sz="2553"/>
            </a:lvl3pPr>
            <a:lvl4pPr>
              <a:defRPr sz="2268"/>
            </a:lvl4pPr>
            <a:lvl5pPr>
              <a:defRPr sz="2268"/>
            </a:lvl5pPr>
            <a:lvl6pPr>
              <a:defRPr sz="2268"/>
            </a:lvl6pPr>
            <a:lvl7pPr>
              <a:defRPr sz="2268"/>
            </a:lvl7pPr>
            <a:lvl8pPr>
              <a:defRPr sz="2268"/>
            </a:lvl8pPr>
            <a:lvl9pPr>
              <a:defRPr sz="22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26776"/>
            <a:ext cx="2256235" cy="1390693"/>
          </a:xfrm>
        </p:spPr>
        <p:txBody>
          <a:bodyPr anchor="b"/>
          <a:lstStyle>
            <a:lvl1pPr algn="l">
              <a:defRPr sz="28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26779"/>
            <a:ext cx="3833813" cy="7004767"/>
          </a:xfrm>
        </p:spPr>
        <p:txBody>
          <a:bodyPr/>
          <a:lstStyle>
            <a:lvl1pPr>
              <a:defRPr sz="4536"/>
            </a:lvl1pPr>
            <a:lvl2pPr>
              <a:defRPr sz="3969"/>
            </a:lvl2pPr>
            <a:lvl3pPr>
              <a:defRPr sz="3402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1717474"/>
            <a:ext cx="2256235" cy="5614073"/>
          </a:xfrm>
        </p:spPr>
        <p:txBody>
          <a:bodyPr/>
          <a:lstStyle>
            <a:lvl1pPr marL="0" indent="0">
              <a:buNone/>
              <a:defRPr sz="1986"/>
            </a:lvl1pPr>
            <a:lvl2pPr marL="648070" indent="0">
              <a:buNone/>
              <a:defRPr sz="1701"/>
            </a:lvl2pPr>
            <a:lvl3pPr marL="1296138" indent="0">
              <a:buNone/>
              <a:defRPr sz="1419"/>
            </a:lvl3pPr>
            <a:lvl4pPr marL="1944208" indent="0">
              <a:buNone/>
              <a:defRPr sz="1275"/>
            </a:lvl4pPr>
            <a:lvl5pPr marL="2592277" indent="0">
              <a:buNone/>
              <a:defRPr sz="1275"/>
            </a:lvl5pPr>
            <a:lvl6pPr marL="3240347" indent="0">
              <a:buNone/>
              <a:defRPr sz="1275"/>
            </a:lvl6pPr>
            <a:lvl7pPr marL="3888415" indent="0">
              <a:buNone/>
              <a:defRPr sz="1275"/>
            </a:lvl7pPr>
            <a:lvl8pPr marL="4536485" indent="0">
              <a:buNone/>
              <a:defRPr sz="1275"/>
            </a:lvl8pPr>
            <a:lvl9pPr marL="5184553" indent="0">
              <a:buNone/>
              <a:defRPr sz="12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5745163"/>
            <a:ext cx="4114800" cy="678249"/>
          </a:xfrm>
        </p:spPr>
        <p:txBody>
          <a:bodyPr anchor="b"/>
          <a:lstStyle>
            <a:lvl1pPr algn="l">
              <a:defRPr sz="28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733346"/>
            <a:ext cx="4114800" cy="4924425"/>
          </a:xfrm>
        </p:spPr>
        <p:txBody>
          <a:bodyPr/>
          <a:lstStyle>
            <a:lvl1pPr marL="0" indent="0">
              <a:buNone/>
              <a:defRPr sz="4536"/>
            </a:lvl1pPr>
            <a:lvl2pPr marL="648070" indent="0">
              <a:buNone/>
              <a:defRPr sz="3969"/>
            </a:lvl2pPr>
            <a:lvl3pPr marL="1296138" indent="0">
              <a:buNone/>
              <a:defRPr sz="3402"/>
            </a:lvl3pPr>
            <a:lvl4pPr marL="1944208" indent="0">
              <a:buNone/>
              <a:defRPr sz="2835"/>
            </a:lvl4pPr>
            <a:lvl5pPr marL="2592277" indent="0">
              <a:buNone/>
              <a:defRPr sz="2835"/>
            </a:lvl5pPr>
            <a:lvl6pPr marL="3240347" indent="0">
              <a:buNone/>
              <a:defRPr sz="2835"/>
            </a:lvl6pPr>
            <a:lvl7pPr marL="3888415" indent="0">
              <a:buNone/>
              <a:defRPr sz="2835"/>
            </a:lvl7pPr>
            <a:lvl8pPr marL="4536485" indent="0">
              <a:buNone/>
              <a:defRPr sz="2835"/>
            </a:lvl8pPr>
            <a:lvl9pPr marL="5184553" indent="0">
              <a:buNone/>
              <a:defRPr sz="28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6423411"/>
            <a:ext cx="4114800" cy="963226"/>
          </a:xfrm>
        </p:spPr>
        <p:txBody>
          <a:bodyPr/>
          <a:lstStyle>
            <a:lvl1pPr marL="0" indent="0">
              <a:buNone/>
              <a:defRPr sz="1986"/>
            </a:lvl1pPr>
            <a:lvl2pPr marL="648070" indent="0">
              <a:buNone/>
              <a:defRPr sz="1701"/>
            </a:lvl2pPr>
            <a:lvl3pPr marL="1296138" indent="0">
              <a:buNone/>
              <a:defRPr sz="1419"/>
            </a:lvl3pPr>
            <a:lvl4pPr marL="1944208" indent="0">
              <a:buNone/>
              <a:defRPr sz="1275"/>
            </a:lvl4pPr>
            <a:lvl5pPr marL="2592277" indent="0">
              <a:buNone/>
              <a:defRPr sz="1275"/>
            </a:lvl5pPr>
            <a:lvl6pPr marL="3240347" indent="0">
              <a:buNone/>
              <a:defRPr sz="1275"/>
            </a:lvl6pPr>
            <a:lvl7pPr marL="3888415" indent="0">
              <a:buNone/>
              <a:defRPr sz="1275"/>
            </a:lvl7pPr>
            <a:lvl8pPr marL="4536485" indent="0">
              <a:buNone/>
              <a:defRPr sz="1275"/>
            </a:lvl8pPr>
            <a:lvl9pPr marL="5184553" indent="0">
              <a:buNone/>
              <a:defRPr sz="12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28680"/>
            <a:ext cx="1543050" cy="7002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28680"/>
            <a:ext cx="4514850" cy="7002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28677"/>
            <a:ext cx="6172200" cy="1367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915059"/>
            <a:ext cx="6172200" cy="5416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7607025"/>
            <a:ext cx="1600200" cy="436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7607025"/>
            <a:ext cx="2171700" cy="436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7607025"/>
            <a:ext cx="1600200" cy="436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48070" rtl="0" eaLnBrk="1" latinLnBrk="0" hangingPunct="1">
        <a:spcBef>
          <a:spcPct val="0"/>
        </a:spcBef>
        <a:buNone/>
        <a:defRPr sz="62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6053" indent="-486053" algn="l" defTabSz="648070" rtl="0" eaLnBrk="1" latinLnBrk="0" hangingPunct="1">
        <a:spcBef>
          <a:spcPct val="20000"/>
        </a:spcBef>
        <a:buFont typeface="Arial"/>
        <a:buChar char="•"/>
        <a:defRPr sz="4536" kern="1200">
          <a:solidFill>
            <a:schemeClr val="tx1"/>
          </a:solidFill>
          <a:latin typeface="+mn-lt"/>
          <a:ea typeface="+mn-ea"/>
          <a:cs typeface="+mn-cs"/>
        </a:defRPr>
      </a:lvl1pPr>
      <a:lvl2pPr marL="1053112" indent="-405043" algn="l" defTabSz="648070" rtl="0" eaLnBrk="1" latinLnBrk="0" hangingPunct="1">
        <a:spcBef>
          <a:spcPct val="20000"/>
        </a:spcBef>
        <a:buFont typeface="Arial"/>
        <a:buChar char="–"/>
        <a:defRPr sz="3969" kern="1200">
          <a:solidFill>
            <a:schemeClr val="tx1"/>
          </a:solidFill>
          <a:latin typeface="+mn-lt"/>
          <a:ea typeface="+mn-ea"/>
          <a:cs typeface="+mn-cs"/>
        </a:defRPr>
      </a:lvl2pPr>
      <a:lvl3pPr marL="1620173" indent="-324035" algn="l" defTabSz="648070" rtl="0" eaLnBrk="1" latinLnBrk="0" hangingPunct="1">
        <a:spcBef>
          <a:spcPct val="20000"/>
        </a:spcBef>
        <a:buFont typeface="Arial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3pPr>
      <a:lvl4pPr marL="2268244" indent="-324035" algn="l" defTabSz="648070" rtl="0" eaLnBrk="1" latinLnBrk="0" hangingPunct="1">
        <a:spcBef>
          <a:spcPct val="20000"/>
        </a:spcBef>
        <a:buFont typeface="Arial"/>
        <a:buChar char="–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916313" indent="-324035" algn="l" defTabSz="648070" rtl="0" eaLnBrk="1" latinLnBrk="0" hangingPunct="1">
        <a:spcBef>
          <a:spcPct val="20000"/>
        </a:spcBef>
        <a:buFont typeface="Arial"/>
        <a:buChar char="»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64382" indent="-324035" algn="l" defTabSz="648070" rtl="0" eaLnBrk="1" latinLnBrk="0" hangingPunct="1">
        <a:spcBef>
          <a:spcPct val="20000"/>
        </a:spcBef>
        <a:buFont typeface="Arial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212451" indent="-324035" algn="l" defTabSz="648070" rtl="0" eaLnBrk="1" latinLnBrk="0" hangingPunct="1">
        <a:spcBef>
          <a:spcPct val="20000"/>
        </a:spcBef>
        <a:buFont typeface="Arial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4860520" indent="-324035" algn="l" defTabSz="648070" rtl="0" eaLnBrk="1" latinLnBrk="0" hangingPunct="1">
        <a:spcBef>
          <a:spcPct val="20000"/>
        </a:spcBef>
        <a:buFont typeface="Arial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508589" indent="-324035" algn="l" defTabSz="648070" rtl="0" eaLnBrk="1" latinLnBrk="0" hangingPunct="1">
        <a:spcBef>
          <a:spcPct val="20000"/>
        </a:spcBef>
        <a:buFont typeface="Arial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1pPr>
      <a:lvl2pPr marL="648070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2pPr>
      <a:lvl3pPr marL="1296138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944208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4pPr>
      <a:lvl5pPr marL="2592277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5pPr>
      <a:lvl6pPr marL="3240347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6pPr>
      <a:lvl7pPr marL="3888415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7pPr>
      <a:lvl8pPr marL="4536485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8pPr>
      <a:lvl9pPr marL="5184553" algn="l" defTabSz="648070" rtl="0" eaLnBrk="1" latinLnBrk="0" hangingPunct="1">
        <a:defRPr sz="25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Table 8">
            <a:extLst>
              <a:ext uri="{FF2B5EF4-FFF2-40B4-BE49-F238E27FC236}">
                <a16:creationId xmlns:a16="http://schemas.microsoft.com/office/drawing/2014/main" id="{A3590E3D-1525-C2AA-F798-82E530802A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159635"/>
              </p:ext>
            </p:extLst>
          </p:nvPr>
        </p:nvGraphicFramePr>
        <p:xfrm>
          <a:off x="19" y="0"/>
          <a:ext cx="6858000" cy="844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041">
                  <a:extLst>
                    <a:ext uri="{9D8B030D-6E8A-4147-A177-3AD203B41FA5}">
                      <a16:colId xmlns:a16="http://schemas.microsoft.com/office/drawing/2014/main" val="4259470647"/>
                    </a:ext>
                  </a:extLst>
                </a:gridCol>
                <a:gridCol w="741349">
                  <a:extLst>
                    <a:ext uri="{9D8B030D-6E8A-4147-A177-3AD203B41FA5}">
                      <a16:colId xmlns:a16="http://schemas.microsoft.com/office/drawing/2014/main" val="3357401299"/>
                    </a:ext>
                  </a:extLst>
                </a:gridCol>
                <a:gridCol w="1906864">
                  <a:extLst>
                    <a:ext uri="{9D8B030D-6E8A-4147-A177-3AD203B41FA5}">
                      <a16:colId xmlns:a16="http://schemas.microsoft.com/office/drawing/2014/main" val="2604762144"/>
                    </a:ext>
                  </a:extLst>
                </a:gridCol>
                <a:gridCol w="2099406">
                  <a:extLst>
                    <a:ext uri="{9D8B030D-6E8A-4147-A177-3AD203B41FA5}">
                      <a16:colId xmlns:a16="http://schemas.microsoft.com/office/drawing/2014/main" val="10391462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551525943"/>
                    </a:ext>
                  </a:extLst>
                </a:gridCol>
              </a:tblGrid>
              <a:tr h="251706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QUY TRÌNH THỰC HIỆN CHUYỂN GIAO CÔNG NGHỆ VÀ DỊCH VỤ</a:t>
                      </a:r>
                      <a:r>
                        <a:rPr lang="en-US" sz="1000" b="1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sz="75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44431"/>
                  </a:ext>
                </a:extLst>
              </a:tr>
              <a:tr h="321796"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Bước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Trách nhiệm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Nội dung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Mô tả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Hồ sơ/Biểu mẫu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43811"/>
                  </a:ext>
                </a:extLst>
              </a:tr>
              <a:tr h="445883"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9">
                  <a:txBody>
                    <a:bodyPr/>
                    <a:lstStyle/>
                    <a:p>
                      <a:endParaRPr lang="vi-VN" sz="75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sẵn sàng chuyển giao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hoặc nhận được yêu cầu từ đối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tác, tiến hành lập đề xuất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(05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BM01/QT.KHCN.05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316148"/>
                  </a:ext>
                </a:extLst>
              </a:tr>
              <a:tr h="1374952">
                <a:tc>
                  <a:txBody>
                    <a:bodyPr/>
                    <a:lstStyle/>
                    <a:p>
                      <a:pPr algn="ctr"/>
                      <a:r>
                        <a:rPr lang="vi-VN" sz="750" b="1" dirty="0">
                          <a:solidFill>
                            <a:schemeClr val="bg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HĐXD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BGH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 sz="10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P.KHCN tiếp nhận, xem xét tính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 lệ của hồ sơ.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Trình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BGH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xem xét,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phê duyệt chủ trương thực hiện.</a:t>
                      </a:r>
                      <a:b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Tổ chức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HĐXD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thẩm định tính khả thi, hiệu quả.</a:t>
                      </a:r>
                      <a:b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viết thuyết minh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(15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BM02/QT.KHCN.05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BM03/QT.KHCN.05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BM04/QT.KHCN.05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BM05/QT.KHCN.05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BM06/QT.KHCN.05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800747"/>
                  </a:ext>
                </a:extLst>
              </a:tr>
              <a:tr h="680559"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P.KHCN,</a:t>
                      </a:r>
                    </a:p>
                    <a:p>
                      <a:pPr marL="0" algn="ctr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CNĐT,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P.KT-TC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BGH</a:t>
                      </a:r>
                    </a:p>
                    <a:p>
                      <a:pPr marL="0" marR="0" lvl="0" indent="0" algn="ctr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Bên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CN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 chủ trì, phối hợp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và các bên liên quan đàm phán với Bên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hận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về các điều khoản.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(04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501763"/>
                  </a:ext>
                </a:extLst>
              </a:tr>
              <a:tr h="684326"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BGH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Bên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CN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(02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84281"/>
                  </a:ext>
                </a:extLst>
              </a:tr>
              <a:tr h="566339"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05</a:t>
                      </a:r>
                      <a:endParaRPr lang="vi-VN" sz="75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en-US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</a:t>
                      </a:r>
                      <a:endParaRPr lang="en-US" sz="75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vi-VN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 cung cấp biểu mẫu 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CNĐT báo cáo tiến độ nửa thời gian thực hiện đề tài.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tiến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434441"/>
                  </a:ext>
                </a:extLst>
              </a:tr>
              <a:tr h="1267247"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06</a:t>
                      </a:r>
                      <a:endParaRPr lang="vi-VN" sz="75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</a:p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KHCN</a:t>
                      </a:r>
                    </a:p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HĐ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NT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BGH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just" defTabSz="457146" rtl="0" eaLnBrk="1" latinLnBrk="0" hangingPunct="1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 phối hợp với P.KHCN chuẩn bị hồ sơ, lập HĐ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NT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xem xét đánh giá mức độ hoàn thành của đề tài.</a:t>
                      </a:r>
                    </a:p>
                    <a:p>
                      <a:pPr marL="0" algn="just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CNĐT báo cáo tình hình thực hiện đề tài; nộp báo cáo và sản phẩm của đề tài.</a:t>
                      </a:r>
                    </a:p>
                    <a:p>
                      <a:pPr marL="0" algn="just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HĐ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NT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đánh giá kết quả thực hiện đề tài và kiến nghị điều chỉnh báo cáo đề tài (nếu có)</a:t>
                      </a:r>
                    </a:p>
                    <a:p>
                      <a:pPr marL="0" algn="just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hoàn thiện/ điều chỉnh báo cáo theo góp ý của HĐ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NT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nếu có và nộp lại báo cáo cho phòng KHCN lưu hồ sơ theo quy định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(07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BM08/QT.KHCN.05</a:t>
                      </a: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BM09/QT.KHCN.05</a:t>
                      </a: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BM10/QT.KHCN.05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BM11/QT.KHCN.05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BM12/QT.KHCN.05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BM13/QT.KHCN.05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BM14/QT.KHCN.05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882792"/>
                  </a:ext>
                </a:extLst>
              </a:tr>
              <a:tr h="1374952">
                <a:tc>
                  <a:txBody>
                    <a:bodyPr/>
                    <a:lstStyle/>
                    <a:p>
                      <a:pPr algn="ctr"/>
                      <a:r>
                        <a:rPr lang="vi-VN" sz="750" b="1">
                          <a:solidFill>
                            <a:schemeClr val="bg1"/>
                          </a:solidFill>
                          <a:latin typeface="+mj-lt"/>
                        </a:rPr>
                        <a:t>07</a:t>
                      </a:r>
                      <a:endParaRPr lang="vi-VN" sz="75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 </a:t>
                      </a:r>
                    </a:p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DNTU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Bên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CN </a:t>
                      </a:r>
                    </a:p>
                    <a:p>
                      <a:pPr marL="0" indent="0" algn="ctr" defTabSz="457146" rtl="0" eaLnBrk="1" latinLnBrk="0" hangingPunct="1">
                        <a:buFontTx/>
                        <a:buNone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  <a:endParaRPr lang="vi-VN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Các bên tiến hành nghiệm thu kết quả chuyển giao. </a:t>
                      </a:r>
                    </a:p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Ký biên bản nghiệm thu khi đạt yêu cầu. </a:t>
                      </a:r>
                    </a:p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Bên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hận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thực hiện nghĩa vụ thanh toán đầy đủ. </a:t>
                      </a:r>
                    </a:p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Các bên tiến hành thanh lý hợp đồng.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(07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Biên bản nghiệm thu và bàn giao kết quả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0" algn="l" defTabSz="457146" rtl="0" eaLnBrk="1" latinLnBrk="0" hangingPunct="1"/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Biên bản thanh lý hợp đồng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đối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tác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16593"/>
                  </a:ext>
                </a:extLst>
              </a:tr>
              <a:tr h="740718">
                <a:tc>
                  <a:txBody>
                    <a:bodyPr/>
                    <a:lstStyle/>
                    <a:p>
                      <a:pPr algn="ctr"/>
                      <a:r>
                        <a:rPr lang="vi-VN" sz="750" b="1" dirty="0">
                          <a:solidFill>
                            <a:schemeClr val="bg1"/>
                          </a:solidFill>
                          <a:latin typeface="+mj-lt"/>
                        </a:rPr>
                        <a:t>08</a:t>
                      </a:r>
                      <a:endParaRPr lang="vi-VN" sz="7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146" rtl="0" eaLnBrk="1" latinLnBrk="0" hangingPunct="1"/>
                      <a:r>
                        <a:rPr lang="vi-VN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P.KHCN,</a:t>
                      </a:r>
                    </a:p>
                    <a:p>
                      <a:pPr marL="0" algn="ctr" defTabSz="457146" rtl="0" eaLnBrk="1" latinLnBrk="0" hangingPunct="1"/>
                      <a:r>
                        <a:rPr lang="vi-VN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CNĐT,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P.KT-TC</a:t>
                      </a:r>
                      <a:endParaRPr lang="vi-VN" sz="75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-P.KHCN thực hiện thủ tục nghiệm thu đề tài và thanh lý Hợp đồng đối với 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</a:t>
                      </a:r>
                    </a:p>
                    <a:p>
                      <a:pPr marL="0" indent="0" algn="l" defTabSz="457146" rtl="0" eaLnBrk="1" latinLnBrk="0" hangingPunct="1">
                        <a:buFontTx/>
                        <a:buNone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Phòng KT-TC thực hiện quyết toán hợp đồng.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(07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63591"/>
                  </a:ext>
                </a:extLst>
              </a:tr>
              <a:tr h="741042">
                <a:tc>
                  <a:txBody>
                    <a:bodyPr/>
                    <a:lstStyle/>
                    <a:p>
                      <a:pPr marL="0" marR="0" lvl="0" indent="0" algn="ctr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5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75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  <a:endParaRPr lang="vi-VN" sz="750" kern="1200" dirty="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vi-VN" sz="75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146" rtl="0" eaLnBrk="1" latinLnBrk="0" hangingPunct="1"/>
                      <a:r>
                        <a:rPr lang="vi-VN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P.KHCN,</a:t>
                      </a:r>
                    </a:p>
                    <a:p>
                      <a:pPr marL="0" algn="ctr" defTabSz="457146" rtl="0" eaLnBrk="1" latinLnBrk="0" hangingPunct="1"/>
                      <a:r>
                        <a:rPr lang="vi-VN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CNĐT,</a:t>
                      </a:r>
                    </a:p>
                    <a:p>
                      <a:pPr marL="0" algn="ctr" defTabSz="457146" rtl="0" eaLnBrk="1" latinLnBrk="0" hangingPunct="1"/>
                      <a:r>
                        <a:rPr lang="en-US" sz="75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P.KT-TC</a:t>
                      </a:r>
                      <a:endParaRPr lang="vi-VN" sz="75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Tất cả hồ sơ, tài liệu, hợp đồng, chứng từ liên quan đến quá trình chuyển giao được lưu trữ theo quy định của Trường và pháp luật.</a:t>
                      </a:r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(03 </a:t>
                      </a:r>
                      <a:r>
                        <a:rPr lang="en-US" sz="750" kern="12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750" kern="12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vi-VN" sz="750" kern="12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của quá trình chuyển giao.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345777"/>
                  </a:ext>
                </a:extLst>
              </a:tr>
            </a:tbl>
          </a:graphicData>
        </a:graphic>
      </p:graphicFrame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C916E143-10A0-04E1-A46A-754A69AFE3BC}"/>
              </a:ext>
            </a:extLst>
          </p:cNvPr>
          <p:cNvSpPr/>
          <p:nvPr/>
        </p:nvSpPr>
        <p:spPr>
          <a:xfrm>
            <a:off x="1718199" y="719779"/>
            <a:ext cx="864000" cy="1731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Đăng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ký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đề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tài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" name="Flowchart: Decision 111">
            <a:extLst>
              <a:ext uri="{FF2B5EF4-FFF2-40B4-BE49-F238E27FC236}">
                <a16:creationId xmlns:a16="http://schemas.microsoft.com/office/drawing/2014/main" id="{1459184B-514D-F0AE-F1DA-79E6DDB024DA}"/>
              </a:ext>
            </a:extLst>
          </p:cNvPr>
          <p:cNvSpPr/>
          <p:nvPr/>
        </p:nvSpPr>
        <p:spPr>
          <a:xfrm>
            <a:off x="1491783" y="1229642"/>
            <a:ext cx="1339643" cy="676285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Thẩm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định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&amp;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phê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duyệt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đăng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ký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CDEB321-5AC7-6CC6-E296-357643AC7CC5}"/>
              </a:ext>
            </a:extLst>
          </p:cNvPr>
          <p:cNvSpPr/>
          <p:nvPr/>
        </p:nvSpPr>
        <p:spPr>
          <a:xfrm>
            <a:off x="1668281" y="3120320"/>
            <a:ext cx="1006834" cy="2870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vi-V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 kết Hợp đồng</a:t>
            </a:r>
            <a:endParaRPr lang="vi-VN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38410ED-680E-0476-62BA-D836ED633506}"/>
              </a:ext>
            </a:extLst>
          </p:cNvPr>
          <p:cNvSpPr/>
          <p:nvPr/>
        </p:nvSpPr>
        <p:spPr>
          <a:xfrm>
            <a:off x="1646782" y="3795096"/>
            <a:ext cx="1006834" cy="216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vi-VN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hiện đề tài</a:t>
            </a:r>
          </a:p>
        </p:txBody>
      </p:sp>
      <p:sp>
        <p:nvSpPr>
          <p:cNvPr id="115" name="Flowchart: Decision 114">
            <a:extLst>
              <a:ext uri="{FF2B5EF4-FFF2-40B4-BE49-F238E27FC236}">
                <a16:creationId xmlns:a16="http://schemas.microsoft.com/office/drawing/2014/main" id="{AD74715C-C0E1-FF59-B1FC-F6C2E8DDFF94}"/>
              </a:ext>
            </a:extLst>
          </p:cNvPr>
          <p:cNvSpPr/>
          <p:nvPr/>
        </p:nvSpPr>
        <p:spPr>
          <a:xfrm>
            <a:off x="1521664" y="5652366"/>
            <a:ext cx="1282828" cy="591713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Nghiệm thu, Bàn giao &amp; Thanh lý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A6743FD-63AA-429F-E10D-19A8EB5BB494}"/>
              </a:ext>
            </a:extLst>
          </p:cNvPr>
          <p:cNvGrpSpPr/>
          <p:nvPr/>
        </p:nvGrpSpPr>
        <p:grpSpPr>
          <a:xfrm>
            <a:off x="1328062" y="801860"/>
            <a:ext cx="300587" cy="774934"/>
            <a:chOff x="-2330937" y="2152143"/>
            <a:chExt cx="573404" cy="1377749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9FCB884-F1D1-076E-CBAD-6DE999FEFB34}"/>
                </a:ext>
              </a:extLst>
            </p:cNvPr>
            <p:cNvGrpSpPr/>
            <p:nvPr/>
          </p:nvGrpSpPr>
          <p:grpSpPr>
            <a:xfrm>
              <a:off x="-2330937" y="2158112"/>
              <a:ext cx="404085" cy="1371780"/>
              <a:chOff x="1419225" y="1003837"/>
              <a:chExt cx="144432" cy="768633"/>
            </a:xfrm>
          </p:grpSpPr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0CF00DD5-863E-8DD6-5266-CA3633BFD1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9225" y="1762945"/>
                <a:ext cx="144432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A80D778A-DF19-1179-667D-96B8197936C0}"/>
                  </a:ext>
                </a:extLst>
              </p:cNvPr>
              <p:cNvCxnSpPr/>
              <p:nvPr/>
            </p:nvCxnSpPr>
            <p:spPr>
              <a:xfrm>
                <a:off x="1419225" y="1003837"/>
                <a:ext cx="0" cy="76863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86C6BBF9-CB89-AF93-5EB5-EDFC56FDE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314270" y="2152143"/>
              <a:ext cx="556737" cy="1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F282A91-5405-A6DB-A4B6-B7FC09054185}"/>
              </a:ext>
            </a:extLst>
          </p:cNvPr>
          <p:cNvGrpSpPr/>
          <p:nvPr/>
        </p:nvGrpSpPr>
        <p:grpSpPr>
          <a:xfrm>
            <a:off x="2701475" y="790115"/>
            <a:ext cx="290000" cy="786679"/>
            <a:chOff x="7248551" y="719782"/>
            <a:chExt cx="367454" cy="768633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EC84E2D-FCF0-FC5B-7595-FA3BCCA59970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471573" y="1488415"/>
              <a:ext cx="144432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C1CC51F3-F913-E57F-17A9-513035BDE51C}"/>
                </a:ext>
              </a:extLst>
            </p:cNvPr>
            <p:cNvCxnSpPr/>
            <p:nvPr/>
          </p:nvCxnSpPr>
          <p:spPr>
            <a:xfrm rot="10800000">
              <a:off x="7606480" y="719782"/>
              <a:ext cx="0" cy="768633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DCCEB85E-5687-C74F-8FAD-EBD6936D1011}"/>
                </a:ext>
              </a:extLst>
            </p:cNvPr>
            <p:cNvCxnSpPr/>
            <p:nvPr/>
          </p:nvCxnSpPr>
          <p:spPr>
            <a:xfrm rot="10800000" flipV="1">
              <a:off x="7248551" y="719782"/>
              <a:ext cx="358743" cy="9524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06AA96C6-5FFD-0595-8D77-636D60A559C4}"/>
              </a:ext>
            </a:extLst>
          </p:cNvPr>
          <p:cNvSpPr txBox="1"/>
          <p:nvPr/>
        </p:nvSpPr>
        <p:spPr>
          <a:xfrm rot="16200000">
            <a:off x="1060300" y="1003210"/>
            <a:ext cx="67628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5993F25-B03E-8713-2B24-9C90755BE1A2}"/>
              </a:ext>
            </a:extLst>
          </p:cNvPr>
          <p:cNvSpPr txBox="1"/>
          <p:nvPr/>
        </p:nvSpPr>
        <p:spPr>
          <a:xfrm rot="16200000">
            <a:off x="2530525" y="1068038"/>
            <a:ext cx="592226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endParaRPr lang="vi-V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AD15F59-05E5-4C8B-A344-75C857105064}"/>
              </a:ext>
            </a:extLst>
          </p:cNvPr>
          <p:cNvGrpSpPr/>
          <p:nvPr/>
        </p:nvGrpSpPr>
        <p:grpSpPr>
          <a:xfrm>
            <a:off x="2726966" y="1229642"/>
            <a:ext cx="362283" cy="1391637"/>
            <a:chOff x="2726966" y="1398863"/>
            <a:chExt cx="362283" cy="979011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B0549C1-93A5-9D6C-C0F0-F877EF13A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6966" y="2366928"/>
              <a:ext cx="361639" cy="10946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502F1CC-48B8-9C43-F03B-3B2D9A927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8605" y="1398864"/>
              <a:ext cx="0" cy="968064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7BEFEBB-44D0-D16C-1F64-9F10E15AAE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1028" y="1398863"/>
              <a:ext cx="88221" cy="11118"/>
            </a:xfrm>
            <a:prstGeom prst="straightConnector1">
              <a:avLst/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42F2FCF6-7E15-019E-4CE4-93AD63419C55}"/>
              </a:ext>
            </a:extLst>
          </p:cNvPr>
          <p:cNvSpPr txBox="1"/>
          <p:nvPr/>
        </p:nvSpPr>
        <p:spPr>
          <a:xfrm rot="16200000">
            <a:off x="2585857" y="1859790"/>
            <a:ext cx="676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endParaRPr lang="vi-V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4B33FC0-E863-F517-2BE0-D78B66D3A3F3}"/>
              </a:ext>
            </a:extLst>
          </p:cNvPr>
          <p:cNvSpPr/>
          <p:nvPr/>
        </p:nvSpPr>
        <p:spPr>
          <a:xfrm>
            <a:off x="1664653" y="6980190"/>
            <a:ext cx="1036822" cy="3336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8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Quyết toán &amp; Phân chia lợi nhuận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9EF47E6-C936-35C8-8931-3C1D69955D98}"/>
              </a:ext>
            </a:extLst>
          </p:cNvPr>
          <p:cNvSpPr/>
          <p:nvPr/>
        </p:nvSpPr>
        <p:spPr>
          <a:xfrm>
            <a:off x="1668281" y="2461274"/>
            <a:ext cx="1006834" cy="272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Đàm phán &amp; soạn hợp đồng</a:t>
            </a:r>
            <a:endParaRPr lang="vi-VN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1595E2C-6C5A-2F97-E71E-BDA59730B8BF}"/>
              </a:ext>
            </a:extLst>
          </p:cNvPr>
          <p:cNvCxnSpPr>
            <a:cxnSpLocks/>
          </p:cNvCxnSpPr>
          <p:nvPr/>
        </p:nvCxnSpPr>
        <p:spPr>
          <a:xfrm>
            <a:off x="2158433" y="273424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4D0BF2F-0C1D-DF7D-3229-87285D103441}"/>
              </a:ext>
            </a:extLst>
          </p:cNvPr>
          <p:cNvCxnSpPr>
            <a:cxnSpLocks/>
          </p:cNvCxnSpPr>
          <p:nvPr/>
        </p:nvCxnSpPr>
        <p:spPr>
          <a:xfrm>
            <a:off x="2171281" y="343815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BA0AC9E9-E69E-9C51-1B21-94CBDDFBDC1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2172165" y="4019639"/>
            <a:ext cx="0" cy="683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84D5C15-6059-E981-765C-C8D93C23ED63}"/>
              </a:ext>
            </a:extLst>
          </p:cNvPr>
          <p:cNvCxnSpPr>
            <a:cxnSpLocks/>
          </p:cNvCxnSpPr>
          <p:nvPr/>
        </p:nvCxnSpPr>
        <p:spPr>
          <a:xfrm>
            <a:off x="2176361" y="6251612"/>
            <a:ext cx="2" cy="68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51D92C7E-7C98-6FD7-9EF5-EFD3F21CAA85}"/>
              </a:ext>
            </a:extLst>
          </p:cNvPr>
          <p:cNvCxnSpPr>
            <a:cxnSpLocks/>
          </p:cNvCxnSpPr>
          <p:nvPr/>
        </p:nvCxnSpPr>
        <p:spPr>
          <a:xfrm flipH="1">
            <a:off x="2176361" y="5323840"/>
            <a:ext cx="2" cy="317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196694D-67DA-4391-0FAC-9C00F00063DC}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2176361" y="7313812"/>
            <a:ext cx="0" cy="317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064CA4E-260F-9903-7FA9-BA18C7391432}"/>
              </a:ext>
            </a:extLst>
          </p:cNvPr>
          <p:cNvCxnSpPr>
            <a:cxnSpLocks/>
          </p:cNvCxnSpPr>
          <p:nvPr/>
        </p:nvCxnSpPr>
        <p:spPr>
          <a:xfrm>
            <a:off x="2150199" y="891690"/>
            <a:ext cx="0" cy="337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7BB4114-A3E8-FAAC-A8BD-FA0765EBAA0B}"/>
              </a:ext>
            </a:extLst>
          </p:cNvPr>
          <p:cNvCxnSpPr>
            <a:cxnSpLocks/>
            <a:stCxn id="112" idx="2"/>
            <a:endCxn id="133" idx="0"/>
          </p:cNvCxnSpPr>
          <p:nvPr/>
        </p:nvCxnSpPr>
        <p:spPr>
          <a:xfrm>
            <a:off x="2161605" y="1905927"/>
            <a:ext cx="0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Flowchart: Decision 142">
            <a:extLst>
              <a:ext uri="{FF2B5EF4-FFF2-40B4-BE49-F238E27FC236}">
                <a16:creationId xmlns:a16="http://schemas.microsoft.com/office/drawing/2014/main" id="{30F74615-F869-4ABA-846E-EDE0BDB28CAA}"/>
              </a:ext>
            </a:extLst>
          </p:cNvPr>
          <p:cNvSpPr/>
          <p:nvPr/>
        </p:nvSpPr>
        <p:spPr>
          <a:xfrm>
            <a:off x="1506165" y="4703545"/>
            <a:ext cx="1332000" cy="576000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Nghiệm thu cơ sở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ABAE7A2-E3AD-462E-87CD-7B1B9B301182}"/>
              </a:ext>
            </a:extLst>
          </p:cNvPr>
          <p:cNvSpPr/>
          <p:nvPr/>
        </p:nvSpPr>
        <p:spPr>
          <a:xfrm>
            <a:off x="1687350" y="7631310"/>
            <a:ext cx="1039616" cy="377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Lưu </a:t>
            </a:r>
            <a:r>
              <a:rPr lang="en-US" sz="900" b="1" kern="1200" dirty="0" err="1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hồ</a:t>
            </a:r>
            <a:r>
              <a:rPr lang="en-US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900" b="1" kern="1200" dirty="0" err="1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sơ</a:t>
            </a:r>
            <a:endParaRPr lang="vi-VN" sz="900" b="1" kern="1200" dirty="0">
              <a:solidFill>
                <a:srgbClr val="FFF9F9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DBA488-8B31-4B31-9DFC-14613B581027}"/>
              </a:ext>
            </a:extLst>
          </p:cNvPr>
          <p:cNvSpPr/>
          <p:nvPr/>
        </p:nvSpPr>
        <p:spPr>
          <a:xfrm rot="16200000">
            <a:off x="1120049" y="4169991"/>
            <a:ext cx="672510" cy="244634"/>
          </a:xfrm>
          <a:prstGeom prst="roundRect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Xử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lý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hồ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sơ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trễ</a:t>
            </a:r>
            <a:r>
              <a:rPr lang="en-US" sz="8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800" b="1" kern="1200" dirty="0" err="1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hạn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B1BB929-1BE1-44CC-8E7F-E6F27E8BD573}"/>
              </a:ext>
            </a:extLst>
          </p:cNvPr>
          <p:cNvSpPr txBox="1"/>
          <p:nvPr/>
        </p:nvSpPr>
        <p:spPr>
          <a:xfrm>
            <a:off x="1380057" y="4637450"/>
            <a:ext cx="55034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7FC5226B-3A47-4905-AEC9-DB08F072E72B}"/>
              </a:ext>
            </a:extLst>
          </p:cNvPr>
          <p:cNvCxnSpPr>
            <a:cxnSpLocks/>
            <a:stCxn id="145" idx="3"/>
          </p:cNvCxnSpPr>
          <p:nvPr/>
        </p:nvCxnSpPr>
        <p:spPr>
          <a:xfrm rot="5400000" flipH="1" flipV="1">
            <a:off x="1514898" y="3824169"/>
            <a:ext cx="73290" cy="190478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2B9CE731-339B-4F4E-B518-6D03B246DB53}"/>
              </a:ext>
            </a:extLst>
          </p:cNvPr>
          <p:cNvCxnSpPr>
            <a:cxnSpLocks/>
            <a:stCxn id="143" idx="1"/>
          </p:cNvCxnSpPr>
          <p:nvPr/>
        </p:nvCxnSpPr>
        <p:spPr>
          <a:xfrm rot="10800000">
            <a:off x="1431375" y="4637453"/>
            <a:ext cx="74790" cy="354093"/>
          </a:xfrm>
          <a:prstGeom prst="bentConnector2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DA8A47AF-07F6-4321-9A22-07AFCC215B33}"/>
              </a:ext>
            </a:extLst>
          </p:cNvPr>
          <p:cNvSpPr txBox="1"/>
          <p:nvPr/>
        </p:nvSpPr>
        <p:spPr>
          <a:xfrm>
            <a:off x="1472327" y="5325590"/>
            <a:ext cx="67628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vi-V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C8CA0C4A-B10A-1545-390A-259FCF464D4E}"/>
              </a:ext>
            </a:extLst>
          </p:cNvPr>
          <p:cNvCxnSpPr>
            <a:cxnSpLocks/>
          </p:cNvCxnSpPr>
          <p:nvPr/>
        </p:nvCxnSpPr>
        <p:spPr>
          <a:xfrm rot="16200000" flipV="1">
            <a:off x="987794" y="5428689"/>
            <a:ext cx="960121" cy="85834"/>
          </a:xfrm>
          <a:prstGeom prst="bentConnector3">
            <a:avLst>
              <a:gd name="adj1" fmla="val 794"/>
            </a:avLst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6">
            <a:extLst>
              <a:ext uri="{FF2B5EF4-FFF2-40B4-BE49-F238E27FC236}">
                <a16:creationId xmlns:a16="http://schemas.microsoft.com/office/drawing/2014/main" id="{88157FC7-9C7F-589A-8D1E-7712159A4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473596"/>
              </p:ext>
            </p:extLst>
          </p:nvPr>
        </p:nvGraphicFramePr>
        <p:xfrm>
          <a:off x="0" y="0"/>
          <a:ext cx="6858018" cy="8207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98402807"/>
                    </a:ext>
                  </a:extLst>
                </a:gridCol>
                <a:gridCol w="2223755">
                  <a:extLst>
                    <a:ext uri="{9D8B030D-6E8A-4147-A177-3AD203B41FA5}">
                      <a16:colId xmlns:a16="http://schemas.microsoft.com/office/drawing/2014/main" val="2223061294"/>
                    </a:ext>
                  </a:extLst>
                </a:gridCol>
                <a:gridCol w="311529">
                  <a:extLst>
                    <a:ext uri="{9D8B030D-6E8A-4147-A177-3AD203B41FA5}">
                      <a16:colId xmlns:a16="http://schemas.microsoft.com/office/drawing/2014/main" val="351499909"/>
                    </a:ext>
                  </a:extLst>
                </a:gridCol>
                <a:gridCol w="1569039">
                  <a:extLst>
                    <a:ext uri="{9D8B030D-6E8A-4147-A177-3AD203B41FA5}">
                      <a16:colId xmlns:a16="http://schemas.microsoft.com/office/drawing/2014/main" val="3260828008"/>
                    </a:ext>
                  </a:extLst>
                </a:gridCol>
                <a:gridCol w="1173930">
                  <a:extLst>
                    <a:ext uri="{9D8B030D-6E8A-4147-A177-3AD203B41FA5}">
                      <a16:colId xmlns:a16="http://schemas.microsoft.com/office/drawing/2014/main" val="1736909761"/>
                    </a:ext>
                  </a:extLst>
                </a:gridCol>
                <a:gridCol w="1371485">
                  <a:extLst>
                    <a:ext uri="{9D8B030D-6E8A-4147-A177-3AD203B41FA5}">
                      <a16:colId xmlns:a16="http://schemas.microsoft.com/office/drawing/2014/main" val="2015967648"/>
                    </a:ext>
                  </a:extLst>
                </a:gridCol>
              </a:tblGrid>
              <a:tr h="440891">
                <a:tc gridSpan="2">
                  <a:txBody>
                    <a:bodyPr/>
                    <a:lstStyle/>
                    <a:p>
                      <a:pPr algn="ctr"/>
                      <a:endParaRPr lang="vi-VN" sz="700" dirty="0">
                        <a:latin typeface="+mj-lt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vi-VN" sz="700" dirty="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vi-VN" sz="900"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921768"/>
                  </a:ext>
                </a:extLst>
              </a:tr>
              <a:tr h="440891">
                <a:tc gridSpan="2">
                  <a:txBody>
                    <a:bodyPr/>
                    <a:lstStyle/>
                    <a:p>
                      <a:pPr algn="ctr"/>
                      <a:r>
                        <a:rPr lang="vi-VN" sz="7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BIỂU MẪU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vi-VN" sz="700" b="1" dirty="0">
                          <a:solidFill>
                            <a:schemeClr val="bg1"/>
                          </a:solidFill>
                          <a:latin typeface="+mj-lt"/>
                        </a:rPr>
                        <a:t>PHÊ DUYỆT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vi-VN" sz="9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56235725"/>
                  </a:ext>
                </a:extLst>
              </a:tr>
              <a:tr h="7325592">
                <a:tc>
                  <a:txBody>
                    <a:bodyPr/>
                    <a:lstStyle/>
                    <a:p>
                      <a:endParaRPr lang="vi-VN" sz="700" dirty="0">
                        <a:latin typeface="+mj-lt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BM01/QT.KHCN.05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Phiếu đăng ký đề tài chuyển giao công nghệ</a:t>
                      </a: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BM02/QT.KHCN.05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Biểu mẫu thuyết minh đề tài</a:t>
                      </a: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BM03/QT.KHCN.05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Quyết định thành lập Hội đồng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duyệt</a:t>
                      </a:r>
                      <a:endParaRPr lang="vi-VN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BM04/QT.KHCN.05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Phiếu nhận xét hồ sơ đề tài </a:t>
                      </a: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Biên bản họp Hội đồng</a:t>
                      </a: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Hợp đồng giữa trường với chủ nhiệm đề tài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BM0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Biểu mẫu báo cáo tình hình thực hiện đề tài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08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Báo cáo tổng kết đề tài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09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nghiệm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Quyết định thành lập HĐNT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Phiếu đánh giá kết quả thực hiện đề tài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Biên bản họp Hội đồng đánh giá, nghiệm thu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Phiếu điều chỉnh đề tài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700" i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(nếu có)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Biên bản nghiệm thu và bàn giao kết quả với CNĐT. 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8624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BM1</a:t>
                      </a:r>
                      <a:r>
                        <a:rPr lang="en-US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vi-VN" sz="700" b="1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/QT.KHCN.05</a:t>
                      </a:r>
                      <a:r>
                        <a:rPr lang="vi-VN" sz="700" i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Biên bản thanh lý hợp đồng với CNĐT</a:t>
                      </a:r>
                      <a:endParaRPr lang="en-US" sz="700" i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endParaRPr lang="vi-VN" sz="7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700" b="1" dirty="0">
                          <a:latin typeface="+mj-lt"/>
                        </a:rPr>
                        <a:t>ĐƠN VỊ SOẠN THẢO</a:t>
                      </a:r>
                    </a:p>
                    <a:p>
                      <a:pPr algn="ctr"/>
                      <a:r>
                        <a:rPr lang="vi-VN" sz="700" b="1" dirty="0">
                          <a:latin typeface="+mj-lt"/>
                        </a:rPr>
                        <a:t>P. KHOA HỌC CÔNG NGHỆ</a:t>
                      </a:r>
                    </a:p>
                    <a:p>
                      <a:pPr algn="ctr"/>
                      <a:endParaRPr lang="vi-VN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vi-VN" sz="700" b="1" dirty="0">
                        <a:latin typeface="+mj-lt"/>
                      </a:endParaRPr>
                    </a:p>
                    <a:p>
                      <a:pPr algn="ctr"/>
                      <a:endParaRPr lang="vi-VN" sz="7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TS. Nguyễn Thành </a:t>
                      </a:r>
                      <a:r>
                        <a:rPr lang="en-US" sz="7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endParaRPr lang="vi-VN" sz="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700" b="1" dirty="0">
                          <a:latin typeface="+mj-lt"/>
                        </a:rPr>
                        <a:t>ĐƠN VỊ KIỂM TRA</a:t>
                      </a:r>
                    </a:p>
                    <a:p>
                      <a:pPr algn="ctr"/>
                      <a:r>
                        <a:rPr lang="vi-VN" sz="700" b="1" dirty="0">
                          <a:latin typeface="+mj-lt"/>
                        </a:rPr>
                        <a:t>P. ĐBCL&amp;KĐ</a:t>
                      </a: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700" b="1" dirty="0">
                          <a:latin typeface="+mj-lt"/>
                        </a:rPr>
                        <a:t>..…………….………………….</a:t>
                      </a:r>
                      <a:endParaRPr lang="vi-VN" sz="700" b="1" dirty="0">
                        <a:latin typeface="+mj-lt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700" b="1" dirty="0">
                          <a:latin typeface="+mj-lt"/>
                        </a:rPr>
                        <a:t>PHÊ DUYỆT</a:t>
                      </a:r>
                    </a:p>
                    <a:p>
                      <a:pPr algn="ctr"/>
                      <a:r>
                        <a:rPr lang="vi-VN" sz="700" b="1" dirty="0">
                          <a:latin typeface="+mj-lt"/>
                        </a:rPr>
                        <a:t>HIỆU TRƯỞNG</a:t>
                      </a: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endParaRPr lang="en-US" sz="7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700" b="1" dirty="0">
                          <a:latin typeface="+mj-lt"/>
                        </a:rPr>
                        <a:t>…………………………………………….</a:t>
                      </a:r>
                      <a:endParaRPr lang="vi-VN" sz="700" b="1" dirty="0">
                        <a:latin typeface="+mj-lt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100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215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1000</Words>
  <Application>Microsoft Office PowerPoint</Application>
  <PresentationFormat>Custom</PresentationFormat>
  <Paragraphs>140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</dc:creator>
  <cp:keywords/>
  <dc:description>generated using python-pptx</dc:description>
  <cp:lastModifiedBy>Dũng Giang</cp:lastModifiedBy>
  <cp:revision>58</cp:revision>
  <dcterms:created xsi:type="dcterms:W3CDTF">2013-01-27T09:14:16Z</dcterms:created>
  <dcterms:modified xsi:type="dcterms:W3CDTF">2025-09-12T10:05:53Z</dcterms:modified>
  <cp:category/>
</cp:coreProperties>
</file>